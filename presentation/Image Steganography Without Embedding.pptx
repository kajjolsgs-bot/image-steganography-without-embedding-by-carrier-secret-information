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embeddedFontLst>
    <p:embeddedFont>
      <p:font typeface="Merriweather"/>
      <p:regular r:id="rId18"/>
      <p:bold r:id="rId19"/>
      <p:italic r:id="rId20"/>
      <p:boldItalic r:id="rId21"/>
    </p:embeddedFont>
    <p:embeddedFont>
      <p:font typeface="DM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erriweather-italic.fntdata"/><Relationship Id="rId22" Type="http://schemas.openxmlformats.org/officeDocument/2006/relationships/font" Target="fonts/DMSans-regular.fntdata"/><Relationship Id="rId21" Type="http://schemas.openxmlformats.org/officeDocument/2006/relationships/font" Target="fonts/Merriweather-boldItalic.fntdata"/><Relationship Id="rId24" Type="http://schemas.openxmlformats.org/officeDocument/2006/relationships/font" Target="fonts/DMSans-italic.fntdata"/><Relationship Id="rId23" Type="http://schemas.openxmlformats.org/officeDocument/2006/relationships/font" Target="fonts/DMSa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DM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Merriweather-bold.fntdata"/><Relationship Id="rId18" Type="http://schemas.openxmlformats.org/officeDocument/2006/relationships/font" Target="fonts/Merriweather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996378b1c8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3996378b1c8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996378b1c8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3996378b1c8_0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12.png"/><Relationship Id="rId6" Type="http://schemas.openxmlformats.org/officeDocument/2006/relationships/image" Target="../media/image9.png"/><Relationship Id="rId7" Type="http://schemas.openxmlformats.org/officeDocument/2006/relationships/image" Target="../media/image8.png"/><Relationship Id="rId8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1" Type="http://schemas.openxmlformats.org/officeDocument/2006/relationships/image" Target="../media/image20.png"/><Relationship Id="rId10" Type="http://schemas.openxmlformats.org/officeDocument/2006/relationships/image" Target="../media/image34.png"/><Relationship Id="rId13" Type="http://schemas.openxmlformats.org/officeDocument/2006/relationships/image" Target="../media/image23.png"/><Relationship Id="rId1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35.png"/><Relationship Id="rId15" Type="http://schemas.openxmlformats.org/officeDocument/2006/relationships/image" Target="../media/image39.png"/><Relationship Id="rId14" Type="http://schemas.openxmlformats.org/officeDocument/2006/relationships/image" Target="../media/image24.png"/><Relationship Id="rId5" Type="http://schemas.openxmlformats.org/officeDocument/2006/relationships/image" Target="../media/image16.png"/><Relationship Id="rId6" Type="http://schemas.openxmlformats.org/officeDocument/2006/relationships/image" Target="../media/image26.png"/><Relationship Id="rId7" Type="http://schemas.openxmlformats.org/officeDocument/2006/relationships/image" Target="../media/image25.png"/><Relationship Id="rId8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7.png"/><Relationship Id="rId4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0" Type="http://schemas.openxmlformats.org/officeDocument/2006/relationships/image" Target="../media/image4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3.png"/><Relationship Id="rId4" Type="http://schemas.openxmlformats.org/officeDocument/2006/relationships/image" Target="../media/image30.png"/><Relationship Id="rId9" Type="http://schemas.openxmlformats.org/officeDocument/2006/relationships/image" Target="../media/image40.png"/><Relationship Id="rId5" Type="http://schemas.openxmlformats.org/officeDocument/2006/relationships/image" Target="../media/image31.png"/><Relationship Id="rId6" Type="http://schemas.openxmlformats.org/officeDocument/2006/relationships/image" Target="../media/image41.png"/><Relationship Id="rId7" Type="http://schemas.openxmlformats.org/officeDocument/2006/relationships/image" Target="../media/image32.png"/><Relationship Id="rId8" Type="http://schemas.openxmlformats.org/officeDocument/2006/relationships/image" Target="../media/image3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8.png"/><Relationship Id="rId4" Type="http://schemas.openxmlformats.org/officeDocument/2006/relationships/image" Target="../media/image38.png"/><Relationship Id="rId5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1455419" y="1890712"/>
            <a:ext cx="9281160" cy="1924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08080"/>
                </a:solidFill>
                <a:latin typeface="Merriweather"/>
                <a:ea typeface="Merriweather"/>
                <a:cs typeface="Merriweather"/>
                <a:sym typeface="Merriweather"/>
              </a:rPr>
              <a:t>Image Steganography Without Embedding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1676400" y="4052887"/>
            <a:ext cx="88392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8080"/>
                </a:solidFill>
                <a:latin typeface="DM Sans"/>
                <a:ea typeface="DM Sans"/>
                <a:cs typeface="DM Sans"/>
                <a:sym typeface="DM Sans"/>
              </a:rPr>
              <a:t>A Novel Method for Secure Communication in Networks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400" u="none" cap="none" strike="noStrike">
                <a:solidFill>
                  <a:srgbClr val="00808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400">
                <a:solidFill>
                  <a:srgbClr val="008080"/>
                </a:solidFill>
                <a:latin typeface="DM Sans"/>
                <a:ea typeface="DM Sans"/>
                <a:cs typeface="DM Sans"/>
                <a:sym typeface="DM Sans"/>
              </a:rPr>
              <a:t>23MIA1038 KAJJOL AIYER </a:t>
            </a:r>
            <a:endParaRPr sz="2400">
              <a:solidFill>
                <a:srgbClr val="00808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8080"/>
                </a:solidFill>
                <a:latin typeface="DM Sans"/>
                <a:ea typeface="DM Sans"/>
                <a:cs typeface="DM Sans"/>
                <a:sym typeface="DM Sans"/>
              </a:rPr>
              <a:t>23MIA1146 SHREEYA NITHI</a:t>
            </a:r>
            <a:endParaRPr sz="2400">
              <a:solidFill>
                <a:srgbClr val="00808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8080"/>
                </a:solidFill>
                <a:latin typeface="DM Sans"/>
                <a:ea typeface="DM Sans"/>
                <a:cs typeface="DM Sans"/>
                <a:sym typeface="DM Sans"/>
              </a:rPr>
              <a:t>23MIA1164 ARYA.K</a:t>
            </a:r>
            <a:endParaRPr sz="2400">
              <a:solidFill>
                <a:srgbClr val="00808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/>
        </p:nvSpPr>
        <p:spPr>
          <a:xfrm>
            <a:off x="571500" y="1439763"/>
            <a:ext cx="55506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8080"/>
                </a:solidFill>
                <a:latin typeface="Merriweather"/>
                <a:ea typeface="Merriweather"/>
                <a:cs typeface="Merriweather"/>
                <a:sym typeface="Merriweather"/>
              </a:rPr>
              <a:t>Traditional Steganography</a:t>
            </a:r>
            <a:endParaRPr/>
          </a:p>
        </p:txBody>
      </p:sp>
      <p:sp>
        <p:nvSpPr>
          <p:cNvPr id="91" name="Google Shape;91;p14"/>
          <p:cNvSpPr txBox="1"/>
          <p:nvPr/>
        </p:nvSpPr>
        <p:spPr>
          <a:xfrm>
            <a:off x="571500" y="1944588"/>
            <a:ext cx="5286300" cy="10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Traditional methods hide data *inside* a cover image (e.g., LSB substitution). This directly alters the image's statistical properties.</a:t>
            </a:r>
            <a:endParaRPr/>
          </a:p>
        </p:txBody>
      </p:sp>
      <p:sp>
        <p:nvSpPr>
          <p:cNvPr id="92" name="Google Shape;92;p14"/>
          <p:cNvSpPr txBox="1"/>
          <p:nvPr/>
        </p:nvSpPr>
        <p:spPr>
          <a:xfrm>
            <a:off x="571500" y="3140571"/>
            <a:ext cx="55506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8080"/>
                </a:solidFill>
                <a:latin typeface="Merriweather"/>
                <a:ea typeface="Merriweather"/>
                <a:cs typeface="Merriweather"/>
                <a:sym typeface="Merriweather"/>
              </a:rPr>
              <a:t>The Insecurity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571500" y="3645396"/>
            <a:ext cx="5286300" cy="10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Modern **Steganalysis** tools (like YeNet, XuNet) are deep learning models trained to detect these tiny statistical alterations.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571500" y="4841378"/>
            <a:ext cx="55506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8080"/>
                </a:solidFill>
                <a:latin typeface="Merriweather"/>
                <a:ea typeface="Merriweather"/>
                <a:cs typeface="Merriweather"/>
                <a:sym typeface="Merriweather"/>
              </a:rPr>
              <a:t>The Result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571500" y="5346203"/>
            <a:ext cx="5286300" cy="10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The "secret" message is easily discovered, and the communication channel is compromised. Traditional embedding is no longer secure.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571500" y="315813"/>
            <a:ext cx="116016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008080"/>
                </a:solidFill>
                <a:latin typeface="Merriweather"/>
                <a:ea typeface="Merriweather"/>
                <a:cs typeface="Merriweather"/>
                <a:sym typeface="Merriweather"/>
              </a:rPr>
              <a:t>The Problem with Steganography</a:t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571500" y="1030188"/>
            <a:ext cx="11049000" cy="28500"/>
          </a:xfrm>
          <a:prstGeom prst="rect">
            <a:avLst/>
          </a:prstGeom>
          <a:solidFill>
            <a:srgbClr val="B5CC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2" name="Google Shape;10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389137"/>
            <a:ext cx="3492549" cy="42207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9799" y="2389137"/>
            <a:ext cx="3492549" cy="42207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28099" y="2389137"/>
            <a:ext cx="3492549" cy="422076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/>
        </p:nvSpPr>
        <p:spPr>
          <a:xfrm>
            <a:off x="571500" y="1372046"/>
            <a:ext cx="110490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A new method, </a:t>
            </a:r>
            <a:r>
              <a:rPr b="1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Steganography Without Embedding (SWE)</a:t>
            </a: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, generates a new image *from* the secret data instead of altering an existing one. This is much more secure, but...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1457592" y="3532137"/>
            <a:ext cx="172021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8080"/>
                </a:solidFill>
                <a:latin typeface="Merriweather"/>
                <a:ea typeface="Merriweather"/>
                <a:cs typeface="Merriweather"/>
                <a:sym typeface="Merriweather"/>
              </a:rPr>
              <a:t>Low Capacity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866775" y="3989337"/>
            <a:ext cx="2901999" cy="20109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Most current SWE methods are unable to securely handle large amounts of secret data. The steganographic capacity is too small for practical use.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4572524" y="3532137"/>
            <a:ext cx="3047099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8080"/>
                </a:solidFill>
                <a:latin typeface="Merriweather"/>
                <a:ea typeface="Merriweather"/>
                <a:cs typeface="Merriweather"/>
                <a:sym typeface="Merriweather"/>
              </a:rPr>
              <a:t>Low Extraction Accuracy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4645074" y="4303662"/>
            <a:ext cx="2901999" cy="20109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Even when data is hidden, retrieving it is difficult. Data is often corrupted, with baseline methods achieving only 85-90% extraction accuracy.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8999190" y="3532137"/>
            <a:ext cx="1750218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8080"/>
                </a:solidFill>
                <a:latin typeface="Merriweather"/>
                <a:ea typeface="Merriweather"/>
                <a:cs typeface="Merriweather"/>
                <a:sym typeface="Merriweather"/>
              </a:rPr>
              <a:t>The Objective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8423374" y="3989337"/>
            <a:ext cx="2901999" cy="20109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To develop a new SWE method that dramatically improves </a:t>
            </a:r>
            <a:r>
              <a:rPr b="1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information capacity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and </a:t>
            </a:r>
            <a:r>
              <a:rPr b="1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extraction accuracy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while maintaining high security.</a:t>
            </a:r>
            <a:endParaRPr/>
          </a:p>
        </p:txBody>
      </p:sp>
      <p:pic>
        <p:nvPicPr>
          <p:cNvPr descr="image.png" id="112" name="Google Shape;112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65287" y="2703462"/>
            <a:ext cx="504825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88549" y="2703462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571500" y="248096"/>
            <a:ext cx="116014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008080"/>
                </a:solidFill>
                <a:latin typeface="Merriweather"/>
                <a:ea typeface="Merriweather"/>
                <a:cs typeface="Merriweather"/>
                <a:sym typeface="Merriweather"/>
              </a:rPr>
              <a:t>Motivation: The "SWE" Gap</a:t>
            </a:r>
            <a:endParaRPr/>
          </a:p>
        </p:txBody>
      </p:sp>
      <p:sp>
        <p:nvSpPr>
          <p:cNvPr id="115" name="Google Shape;115;p15"/>
          <p:cNvSpPr/>
          <p:nvPr/>
        </p:nvSpPr>
        <p:spPr>
          <a:xfrm>
            <a:off x="571500" y="962471"/>
            <a:ext cx="11049000" cy="28575"/>
          </a:xfrm>
          <a:prstGeom prst="rect">
            <a:avLst/>
          </a:prstGeom>
          <a:solidFill>
            <a:srgbClr val="B5CC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0" name="Google Shape;12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870174"/>
            <a:ext cx="3492549" cy="42416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9799" y="1870174"/>
            <a:ext cx="3492549" cy="42416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28099" y="1870174"/>
            <a:ext cx="3492549" cy="4241601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/>
        </p:nvSpPr>
        <p:spPr>
          <a:xfrm>
            <a:off x="952529" y="3013174"/>
            <a:ext cx="2730341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8080"/>
                </a:solidFill>
                <a:latin typeface="Merriweather"/>
                <a:ea typeface="Merriweather"/>
                <a:cs typeface="Merriweather"/>
                <a:sym typeface="Merriweather"/>
              </a:rPr>
              <a:t>Carrier Secret Tensor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866775" y="3470374"/>
            <a:ext cx="2901999" cy="20109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Combines the secret message with a carrier wave. This restores noise diversity, preventing image unity and enabling precise, high-accuracy extraction.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4730829" y="3013174"/>
            <a:ext cx="2730341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8080"/>
                </a:solidFill>
                <a:latin typeface="Merriweather"/>
                <a:ea typeface="Merriweather"/>
                <a:cs typeface="Merriweather"/>
                <a:sym typeface="Merriweather"/>
              </a:rPr>
              <a:t>Wasserstein Distance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4645074" y="3470374"/>
            <a:ext cx="2901999" cy="20109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Used as the discriminator's loss function. It perfectly measures the distance between image distributions to balance image quality and extraction accuracy.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8834169" y="3013174"/>
            <a:ext cx="208026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8080"/>
                </a:solidFill>
                <a:latin typeface="Merriweather"/>
                <a:ea typeface="Merriweather"/>
                <a:cs typeface="Merriweather"/>
                <a:sym typeface="Merriweather"/>
              </a:rPr>
              <a:t>Weight Clipping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8423374" y="3470374"/>
            <a:ext cx="2901999" cy="23461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Constrains the discriminator's weights, preventing it from overfitting to the cover image and ensuring the secret message's integrity remains the top priority.</a:t>
            </a:r>
            <a:endParaRPr/>
          </a:p>
        </p:txBody>
      </p:sp>
      <p:pic>
        <p:nvPicPr>
          <p:cNvPr descr="image.png" id="129" name="Google Shape;129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60512" y="2184499"/>
            <a:ext cx="714375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0" y="2184499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588549" y="2184499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>
            <a:off x="571500" y="571500"/>
            <a:ext cx="116014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008080"/>
                </a:solidFill>
                <a:latin typeface="Merriweather"/>
                <a:ea typeface="Merriweather"/>
                <a:cs typeface="Merriweather"/>
                <a:sym typeface="Merriweather"/>
              </a:rPr>
              <a:t>Our Proposed Method: Key Innovations</a:t>
            </a:r>
            <a:endParaRPr/>
          </a:p>
        </p:txBody>
      </p:sp>
      <p:sp>
        <p:nvSpPr>
          <p:cNvPr id="133" name="Google Shape;133;p16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B5CC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 txBox="1"/>
          <p:nvPr/>
        </p:nvSpPr>
        <p:spPr>
          <a:xfrm>
            <a:off x="571500" y="571500"/>
            <a:ext cx="11601600" cy="16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900">
                <a:solidFill>
                  <a:srgbClr val="008080"/>
                </a:solidFill>
                <a:latin typeface="Merriweather"/>
                <a:ea typeface="Merriweather"/>
                <a:cs typeface="Merriweather"/>
                <a:sym typeface="Merriweather"/>
              </a:rPr>
              <a:t>Paper Summary: Core Concept</a:t>
            </a:r>
            <a:endParaRPr b="1" sz="3900">
              <a:solidFill>
                <a:srgbClr val="00808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l">
              <a:spcBef>
                <a:spcPts val="3000"/>
              </a:spcBef>
              <a:spcAft>
                <a:spcPts val="0"/>
              </a:spcAft>
              <a:buNone/>
            </a:pPr>
            <a:r>
              <a:t/>
            </a:r>
            <a:endParaRPr b="1" sz="3900">
              <a:solidFill>
                <a:srgbClr val="00808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39" name="Google Shape;139;p17"/>
          <p:cNvSpPr/>
          <p:nvPr/>
        </p:nvSpPr>
        <p:spPr>
          <a:xfrm>
            <a:off x="571500" y="1285875"/>
            <a:ext cx="11049000" cy="28500"/>
          </a:xfrm>
          <a:prstGeom prst="rect">
            <a:avLst/>
          </a:prstGeom>
          <a:solidFill>
            <a:srgbClr val="B5CC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5250" y="1762475"/>
            <a:ext cx="5303400" cy="476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2191999" cy="61440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9"/>
          <p:cNvSpPr txBox="1"/>
          <p:nvPr/>
        </p:nvSpPr>
        <p:spPr>
          <a:xfrm>
            <a:off x="845625" y="2251419"/>
            <a:ext cx="4953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I</a:t>
            </a:r>
            <a:r>
              <a:rPr b="1" i="0" lang="en-US" sz="20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nput:</a:t>
            </a:r>
            <a:r>
              <a:rPr b="0" i="0" lang="en-US" sz="20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A Secret Message (M) is combined with a Carrier Wave (f(tm)).</a:t>
            </a:r>
            <a:endParaRPr sz="1600"/>
          </a:p>
        </p:txBody>
      </p:sp>
      <p:sp>
        <p:nvSpPr>
          <p:cNvPr id="151" name="Google Shape;151;p19"/>
          <p:cNvSpPr txBox="1"/>
          <p:nvPr/>
        </p:nvSpPr>
        <p:spPr>
          <a:xfrm>
            <a:off x="771575" y="3290898"/>
            <a:ext cx="4953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Mapping:</a:t>
            </a:r>
            <a:r>
              <a:rPr b="0" i="0" lang="en-US" sz="19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The Message (M) is first mapped to a Secret Tensor (Z).</a:t>
            </a:r>
            <a:endParaRPr sz="1500"/>
          </a:p>
        </p:txBody>
      </p:sp>
      <p:sp>
        <p:nvSpPr>
          <p:cNvPr id="152" name="Google Shape;152;p19"/>
          <p:cNvSpPr txBox="1"/>
          <p:nvPr/>
        </p:nvSpPr>
        <p:spPr>
          <a:xfrm>
            <a:off x="771575" y="4122189"/>
            <a:ext cx="4953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Combine:</a:t>
            </a: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This Secret Tensor (Z) is added to the Carrier Wave to create the key </a:t>
            </a:r>
            <a:r>
              <a:rPr b="1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Carrier Secret Tensor (Z')</a:t>
            </a: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sp>
        <p:nvSpPr>
          <p:cNvPr id="153" name="Google Shape;153;p19"/>
          <p:cNvSpPr txBox="1"/>
          <p:nvPr/>
        </p:nvSpPr>
        <p:spPr>
          <a:xfrm>
            <a:off x="6844500" y="2203789"/>
            <a:ext cx="4953000" cy="8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Decouple:</a:t>
            </a:r>
            <a:r>
              <a:rPr b="0" i="0" lang="en-US" sz="19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The model gets Structural (S1) and Texture (T1) info from a separate cover image.</a:t>
            </a:r>
            <a:endParaRPr sz="1500"/>
          </a:p>
        </p:txBody>
      </p:sp>
      <p:sp>
        <p:nvSpPr>
          <p:cNvPr id="154" name="Google Shape;154;p19"/>
          <p:cNvSpPr txBox="1"/>
          <p:nvPr/>
        </p:nvSpPr>
        <p:spPr>
          <a:xfrm>
            <a:off x="6844500" y="3290888"/>
            <a:ext cx="4953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Generate:</a:t>
            </a: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A generator (Gstu) creates new Structural info (S2) from our Carrier Secret Tensor (Z').</a:t>
            </a:r>
            <a:endParaRPr/>
          </a:p>
        </p:txBody>
      </p:sp>
      <p:sp>
        <p:nvSpPr>
          <p:cNvPr id="155" name="Google Shape;155;p19"/>
          <p:cNvSpPr txBox="1"/>
          <p:nvPr/>
        </p:nvSpPr>
        <p:spPr>
          <a:xfrm>
            <a:off x="6844500" y="4331792"/>
            <a:ext cx="4953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Output:</a:t>
            </a: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A final generator (G) combines (S1, S2, T1, T2) to create the final, secure </a:t>
            </a:r>
            <a:r>
              <a:rPr b="1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Stego Image (Ist)</a:t>
            </a: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sp>
        <p:nvSpPr>
          <p:cNvPr id="156" name="Google Shape;156;p19"/>
          <p:cNvSpPr txBox="1"/>
          <p:nvPr/>
        </p:nvSpPr>
        <p:spPr>
          <a:xfrm>
            <a:off x="438200" y="464295"/>
            <a:ext cx="116016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008080"/>
                </a:solidFill>
                <a:latin typeface="Merriweather"/>
                <a:ea typeface="Merriweather"/>
                <a:cs typeface="Merriweather"/>
                <a:sym typeface="Merriweather"/>
              </a:rPr>
              <a:t>Methodology: Secret Information Generation</a:t>
            </a:r>
            <a:endParaRPr/>
          </a:p>
        </p:txBody>
      </p:sp>
      <p:sp>
        <p:nvSpPr>
          <p:cNvPr id="157" name="Google Shape;157;p19"/>
          <p:cNvSpPr/>
          <p:nvPr/>
        </p:nvSpPr>
        <p:spPr>
          <a:xfrm>
            <a:off x="438200" y="1178669"/>
            <a:ext cx="11049000" cy="28500"/>
          </a:xfrm>
          <a:prstGeom prst="rect">
            <a:avLst/>
          </a:prstGeom>
          <a:solidFill>
            <a:srgbClr val="B5CC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8" name="Google Shape;15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2250" y="2299044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8200" y="3338523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8200" y="4169814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11125" y="2251414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11125" y="3338518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11125" y="4379417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0"/>
          <p:cNvSpPr txBox="1"/>
          <p:nvPr/>
        </p:nvSpPr>
        <p:spPr>
          <a:xfrm>
            <a:off x="904875" y="2060305"/>
            <a:ext cx="495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Input:</a:t>
            </a: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The received </a:t>
            </a:r>
            <a:r>
              <a:rPr b="1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Stego Image (Ist)</a:t>
            </a: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sp>
        <p:nvSpPr>
          <p:cNvPr id="169" name="Google Shape;169;p20"/>
          <p:cNvSpPr txBox="1"/>
          <p:nvPr/>
        </p:nvSpPr>
        <p:spPr>
          <a:xfrm>
            <a:off x="904875" y="2597425"/>
            <a:ext cx="4953000" cy="11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Extract (Step 1):</a:t>
            </a: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A Structural Extractor (E) retrieves the Structural Information (S') from the image.</a:t>
            </a:r>
            <a:endParaRPr/>
          </a:p>
        </p:txBody>
      </p:sp>
      <p:sp>
        <p:nvSpPr>
          <p:cNvPr id="170" name="Google Shape;170;p20"/>
          <p:cNvSpPr txBox="1"/>
          <p:nvPr/>
        </p:nvSpPr>
        <p:spPr>
          <a:xfrm>
            <a:off x="904875" y="3865887"/>
            <a:ext cx="49530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Extract (Step 2):</a:t>
            </a: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A Tensor Extractor (Ex) gets the </a:t>
            </a:r>
            <a:r>
              <a:rPr b="1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Carrier Secret Tensor (Z'')</a:t>
            </a: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from S'.</a:t>
            </a:r>
            <a:endParaRPr/>
          </a:p>
        </p:txBody>
      </p:sp>
      <p:sp>
        <p:nvSpPr>
          <p:cNvPr id="171" name="Google Shape;171;p20"/>
          <p:cNvSpPr txBox="1"/>
          <p:nvPr/>
        </p:nvSpPr>
        <p:spPr>
          <a:xfrm>
            <a:off x="7348150" y="1812654"/>
            <a:ext cx="4953000" cy="11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Isolate:</a:t>
            </a: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The known Carrier Wave (f(tm)) is subtracted from Z'', leaving the clean Secret Tensor (Z''').</a:t>
            </a:r>
            <a:endParaRPr/>
          </a:p>
        </p:txBody>
      </p:sp>
      <p:sp>
        <p:nvSpPr>
          <p:cNvPr id="172" name="Google Shape;172;p20"/>
          <p:cNvSpPr txBox="1"/>
          <p:nvPr/>
        </p:nvSpPr>
        <p:spPr>
          <a:xfrm>
            <a:off x="7348150" y="3081116"/>
            <a:ext cx="4953000" cy="11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Inverse Map:</a:t>
            </a: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The Secret Tensor (Z''') is processed by an inverse mapping function (Eq. 9).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7348150" y="4349578"/>
            <a:ext cx="49530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Output:</a:t>
            </a: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The original </a:t>
            </a:r>
            <a:r>
              <a:rPr b="1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Secret Message (M')</a:t>
            </a: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is perfectly and completely recovered.</a:t>
            </a:r>
            <a:endParaRPr/>
          </a:p>
        </p:txBody>
      </p:sp>
      <p:sp>
        <p:nvSpPr>
          <p:cNvPr id="174" name="Google Shape;174;p20"/>
          <p:cNvSpPr txBox="1"/>
          <p:nvPr/>
        </p:nvSpPr>
        <p:spPr>
          <a:xfrm>
            <a:off x="512250" y="533581"/>
            <a:ext cx="116016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008080"/>
                </a:solidFill>
                <a:latin typeface="Merriweather"/>
                <a:ea typeface="Merriweather"/>
                <a:cs typeface="Merriweather"/>
                <a:sym typeface="Merriweather"/>
              </a:rPr>
              <a:t>Methodology: Secret Information Extraction</a:t>
            </a:r>
            <a:endParaRPr/>
          </a:p>
        </p:txBody>
      </p:sp>
      <p:sp>
        <p:nvSpPr>
          <p:cNvPr id="175" name="Google Shape;175;p20"/>
          <p:cNvSpPr/>
          <p:nvPr/>
        </p:nvSpPr>
        <p:spPr>
          <a:xfrm>
            <a:off x="512250" y="1247955"/>
            <a:ext cx="11049000" cy="28500"/>
          </a:xfrm>
          <a:prstGeom prst="rect">
            <a:avLst/>
          </a:prstGeom>
          <a:solidFill>
            <a:srgbClr val="B5CC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6" name="Google Shape;17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10793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6450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391351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14775" y="1860279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14775" y="3128741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14775" y="4397203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6" name="Google Shape;18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3375" y="2070050"/>
            <a:ext cx="1714500" cy="876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14625" y="2184350"/>
            <a:ext cx="1714500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91125" y="1955750"/>
            <a:ext cx="1714500" cy="1104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67625" y="2070050"/>
            <a:ext cx="1714500" cy="876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44125" y="2070050"/>
            <a:ext cx="1714500" cy="876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09562" y="5035301"/>
            <a:ext cx="1714500" cy="876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786062" y="5035301"/>
            <a:ext cx="1714500" cy="876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262562" y="5035301"/>
            <a:ext cx="1714500" cy="876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2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691437" y="5149601"/>
            <a:ext cx="1714500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2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167937" y="4921001"/>
            <a:ext cx="1714500" cy="11049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1"/>
          <p:cNvSpPr txBox="1"/>
          <p:nvPr/>
        </p:nvSpPr>
        <p:spPr>
          <a:xfrm>
            <a:off x="610552" y="2279600"/>
            <a:ext cx="116014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8080"/>
                </a:solidFill>
                <a:latin typeface="DM Sans"/>
                <a:ea typeface="DM Sans"/>
                <a:cs typeface="DM Sans"/>
                <a:sym typeface="DM Sans"/>
              </a:rPr>
              <a:t>Secret Message (M)</a:t>
            </a:r>
            <a:endParaRPr/>
          </a:p>
        </p:txBody>
      </p:sp>
      <p:pic>
        <p:nvPicPr>
          <p:cNvPr descr="image.png" id="197" name="Google Shape;197;p2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2238375" y="2303412"/>
            <a:ext cx="2857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1"/>
          <p:cNvSpPr txBox="1"/>
          <p:nvPr/>
        </p:nvSpPr>
        <p:spPr>
          <a:xfrm>
            <a:off x="2991802" y="2393900"/>
            <a:ext cx="116014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6A8C00"/>
                </a:solidFill>
                <a:latin typeface="DM Sans"/>
                <a:ea typeface="DM Sans"/>
                <a:cs typeface="DM Sans"/>
                <a:sym typeface="DM Sans"/>
              </a:rPr>
              <a:t>Carrier Wave</a:t>
            </a:r>
            <a:endParaRPr/>
          </a:p>
        </p:txBody>
      </p:sp>
      <p:pic>
        <p:nvPicPr>
          <p:cNvPr descr="image.png" id="199" name="Google Shape;199;p2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619625" y="230341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1"/>
          <p:cNvSpPr txBox="1"/>
          <p:nvPr/>
        </p:nvSpPr>
        <p:spPr>
          <a:xfrm>
            <a:off x="5468302" y="2165300"/>
            <a:ext cx="116014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7F7F7"/>
                </a:solidFill>
                <a:latin typeface="DM Sans"/>
                <a:ea typeface="DM Sans"/>
                <a:cs typeface="DM Sans"/>
                <a:sym typeface="DM Sans"/>
              </a:rPr>
              <a:t>Create Carrier Tensor (Z')</a:t>
            </a:r>
            <a:endParaRPr/>
          </a:p>
        </p:txBody>
      </p:sp>
      <p:pic>
        <p:nvPicPr>
          <p:cNvPr descr="image.png" id="201" name="Google Shape;201;p2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096125" y="230341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1"/>
          <p:cNvSpPr txBox="1"/>
          <p:nvPr/>
        </p:nvSpPr>
        <p:spPr>
          <a:xfrm>
            <a:off x="7944802" y="2279600"/>
            <a:ext cx="116014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7F7F7"/>
                </a:solidFill>
                <a:latin typeface="DM Sans"/>
                <a:ea typeface="DM Sans"/>
                <a:cs typeface="DM Sans"/>
                <a:sym typeface="DM Sans"/>
              </a:rPr>
              <a:t>Generator (G_stu, G)</a:t>
            </a:r>
            <a:endParaRPr/>
          </a:p>
        </p:txBody>
      </p:sp>
      <p:pic>
        <p:nvPicPr>
          <p:cNvPr descr="image.png" id="203" name="Google Shape;203;p2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572625" y="230341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 txBox="1"/>
          <p:nvPr/>
        </p:nvSpPr>
        <p:spPr>
          <a:xfrm>
            <a:off x="10421302" y="2279600"/>
            <a:ext cx="116014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8080"/>
                </a:solidFill>
                <a:latin typeface="DM Sans"/>
                <a:ea typeface="DM Sans"/>
                <a:cs typeface="DM Sans"/>
                <a:sym typeface="DM Sans"/>
              </a:rPr>
              <a:t>Stego Image (Ist)</a:t>
            </a:r>
            <a:endParaRPr/>
          </a:p>
        </p:txBody>
      </p:sp>
      <p:sp>
        <p:nvSpPr>
          <p:cNvPr id="205" name="Google Shape;205;p21"/>
          <p:cNvSpPr txBox="1"/>
          <p:nvPr/>
        </p:nvSpPr>
        <p:spPr>
          <a:xfrm>
            <a:off x="586740" y="5244851"/>
            <a:ext cx="116014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8080"/>
                </a:solidFill>
                <a:latin typeface="DM Sans"/>
                <a:ea typeface="DM Sans"/>
                <a:cs typeface="DM Sans"/>
                <a:sym typeface="DM Sans"/>
              </a:rPr>
              <a:t>Stego Image (Ist)</a:t>
            </a:r>
            <a:endParaRPr/>
          </a:p>
        </p:txBody>
      </p:sp>
      <p:pic>
        <p:nvPicPr>
          <p:cNvPr descr="image.png" id="206" name="Google Shape;206;p21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2214562" y="5268664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1"/>
          <p:cNvSpPr txBox="1"/>
          <p:nvPr/>
        </p:nvSpPr>
        <p:spPr>
          <a:xfrm>
            <a:off x="3063240" y="5244851"/>
            <a:ext cx="116014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7F7F7"/>
                </a:solidFill>
                <a:latin typeface="DM Sans"/>
                <a:ea typeface="DM Sans"/>
                <a:cs typeface="DM Sans"/>
                <a:sym typeface="DM Sans"/>
              </a:rPr>
              <a:t>Extractor (E, Ex)</a:t>
            </a:r>
            <a:endParaRPr/>
          </a:p>
        </p:txBody>
      </p:sp>
      <p:pic>
        <p:nvPicPr>
          <p:cNvPr descr="image.png" id="208" name="Google Shape;208;p21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4691062" y="5268664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1"/>
          <p:cNvSpPr txBox="1"/>
          <p:nvPr/>
        </p:nvSpPr>
        <p:spPr>
          <a:xfrm>
            <a:off x="5539740" y="5244851"/>
            <a:ext cx="116014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7F7F7"/>
                </a:solidFill>
                <a:latin typeface="DM Sans"/>
                <a:ea typeface="DM Sans"/>
                <a:cs typeface="DM Sans"/>
                <a:sym typeface="DM Sans"/>
              </a:rPr>
              <a:t>Get Carrier Tensor (Z'')</a:t>
            </a:r>
            <a:endParaRPr/>
          </a:p>
        </p:txBody>
      </p:sp>
      <p:pic>
        <p:nvPicPr>
          <p:cNvPr descr="image.png" id="210" name="Google Shape;210;p21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7167562" y="5268664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1"/>
          <p:cNvSpPr txBox="1"/>
          <p:nvPr/>
        </p:nvSpPr>
        <p:spPr>
          <a:xfrm>
            <a:off x="7968615" y="5359151"/>
            <a:ext cx="116014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6A8C00"/>
                </a:solidFill>
                <a:latin typeface="DM Sans"/>
                <a:ea typeface="DM Sans"/>
                <a:cs typeface="DM Sans"/>
                <a:sym typeface="DM Sans"/>
              </a:rPr>
              <a:t>Carrier Wave</a:t>
            </a:r>
            <a:endParaRPr/>
          </a:p>
        </p:txBody>
      </p:sp>
      <p:pic>
        <p:nvPicPr>
          <p:cNvPr descr="image.png" id="212" name="Google Shape;212;p21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596437" y="5268664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1"/>
          <p:cNvSpPr txBox="1"/>
          <p:nvPr/>
        </p:nvSpPr>
        <p:spPr>
          <a:xfrm>
            <a:off x="10445115" y="5130551"/>
            <a:ext cx="116014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8080"/>
                </a:solidFill>
                <a:latin typeface="DM Sans"/>
                <a:ea typeface="DM Sans"/>
                <a:cs typeface="DM Sans"/>
                <a:sym typeface="DM Sans"/>
              </a:rPr>
              <a:t>Secret Message (M')</a:t>
            </a:r>
            <a:endParaRPr/>
          </a:p>
        </p:txBody>
      </p:sp>
      <p:sp>
        <p:nvSpPr>
          <p:cNvPr id="214" name="Google Shape;214;p21"/>
          <p:cNvSpPr txBox="1"/>
          <p:nvPr/>
        </p:nvSpPr>
        <p:spPr>
          <a:xfrm>
            <a:off x="571500" y="571500"/>
            <a:ext cx="116014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008080"/>
                </a:solidFill>
                <a:latin typeface="Merriweather"/>
                <a:ea typeface="Merriweather"/>
                <a:cs typeface="Merriweather"/>
                <a:sym typeface="Merriweather"/>
              </a:rPr>
              <a:t>Methodology Flow Diagram</a:t>
            </a:r>
            <a:endParaRPr/>
          </a:p>
        </p:txBody>
      </p:sp>
      <p:sp>
        <p:nvSpPr>
          <p:cNvPr id="215" name="Google Shape;215;p21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B5CC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2"/>
          <p:cNvSpPr txBox="1"/>
          <p:nvPr/>
        </p:nvSpPr>
        <p:spPr>
          <a:xfrm>
            <a:off x="571500" y="1747356"/>
            <a:ext cx="55506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8080"/>
                </a:solidFill>
                <a:latin typeface="Merriweather"/>
                <a:ea typeface="Merriweather"/>
                <a:cs typeface="Merriweather"/>
                <a:sym typeface="Merriweather"/>
              </a:rPr>
              <a:t>Accuracy at High Capacity</a:t>
            </a:r>
            <a:endParaRPr/>
          </a:p>
        </p:txBody>
      </p:sp>
      <p:sp>
        <p:nvSpPr>
          <p:cNvPr id="221" name="Google Shape;221;p22"/>
          <p:cNvSpPr txBox="1"/>
          <p:nvPr/>
        </p:nvSpPr>
        <p:spPr>
          <a:xfrm>
            <a:off x="6303800" y="1747353"/>
            <a:ext cx="55506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8080"/>
                </a:solidFill>
                <a:latin typeface="Merriweather"/>
                <a:ea typeface="Merriweather"/>
                <a:cs typeface="Merriweather"/>
                <a:sym typeface="Merriweather"/>
              </a:rPr>
              <a:t>Accuracy at 3072 bits</a:t>
            </a:r>
            <a:endParaRPr/>
          </a:p>
        </p:txBody>
      </p:sp>
      <p:sp>
        <p:nvSpPr>
          <p:cNvPr id="222" name="Google Shape;222;p22"/>
          <p:cNvSpPr txBox="1"/>
          <p:nvPr/>
        </p:nvSpPr>
        <p:spPr>
          <a:xfrm>
            <a:off x="571500" y="3977875"/>
            <a:ext cx="110490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The model consistently achieves</a:t>
            </a:r>
            <a:r>
              <a:rPr b="1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perfect (100%)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1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extraction accuracy,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even at high capacities, demonstrating the robustness of the carrier secret tensor method.</a:t>
            </a:r>
            <a:endParaRPr/>
          </a:p>
        </p:txBody>
      </p:sp>
      <p:sp>
        <p:nvSpPr>
          <p:cNvPr id="223" name="Google Shape;223;p22"/>
          <p:cNvSpPr txBox="1"/>
          <p:nvPr/>
        </p:nvSpPr>
        <p:spPr>
          <a:xfrm>
            <a:off x="904875" y="2252181"/>
            <a:ext cx="4953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2304 bits:</a:t>
            </a:r>
            <a:endParaRPr/>
          </a:p>
        </p:txBody>
      </p:sp>
      <p:sp>
        <p:nvSpPr>
          <p:cNvPr id="224" name="Google Shape;224;p22"/>
          <p:cNvSpPr txBox="1"/>
          <p:nvPr/>
        </p:nvSpPr>
        <p:spPr>
          <a:xfrm>
            <a:off x="904875" y="2819811"/>
            <a:ext cx="4953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55555"/>
                </a:solidFill>
                <a:latin typeface="DM Sans"/>
                <a:ea typeface="DM Sans"/>
                <a:cs typeface="DM Sans"/>
                <a:sym typeface="DM Sans"/>
              </a:rPr>
              <a:t>Baseline (IDEAS): ~87.07% Accuracy</a:t>
            </a:r>
            <a:endParaRPr/>
          </a:p>
        </p:txBody>
      </p:sp>
      <p:sp>
        <p:nvSpPr>
          <p:cNvPr id="225" name="Google Shape;225;p22"/>
          <p:cNvSpPr txBox="1"/>
          <p:nvPr/>
        </p:nvSpPr>
        <p:spPr>
          <a:xfrm>
            <a:off x="904875" y="3326422"/>
            <a:ext cx="4953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8080"/>
                </a:solidFill>
                <a:latin typeface="DM Sans"/>
                <a:ea typeface="DM Sans"/>
                <a:cs typeface="DM Sans"/>
                <a:sym typeface="DM Sans"/>
              </a:rPr>
              <a:t>Our Method: 100% Accuracy</a:t>
            </a:r>
            <a:endParaRPr/>
          </a:p>
        </p:txBody>
      </p:sp>
      <p:sp>
        <p:nvSpPr>
          <p:cNvPr id="226" name="Google Shape;226;p22"/>
          <p:cNvSpPr txBox="1"/>
          <p:nvPr/>
        </p:nvSpPr>
        <p:spPr>
          <a:xfrm>
            <a:off x="6637175" y="2252178"/>
            <a:ext cx="4953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3072 bits:</a:t>
            </a:r>
            <a:endParaRPr/>
          </a:p>
        </p:txBody>
      </p:sp>
      <p:sp>
        <p:nvSpPr>
          <p:cNvPr id="227" name="Google Shape;227;p22"/>
          <p:cNvSpPr txBox="1"/>
          <p:nvPr/>
        </p:nvSpPr>
        <p:spPr>
          <a:xfrm>
            <a:off x="6637175" y="2819808"/>
            <a:ext cx="4953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55555"/>
                </a:solidFill>
                <a:latin typeface="DM Sans"/>
                <a:ea typeface="DM Sans"/>
                <a:cs typeface="DM Sans"/>
                <a:sym typeface="DM Sans"/>
              </a:rPr>
              <a:t>Baseline (IDEAS): ~87.50% Accuracy</a:t>
            </a:r>
            <a:endParaRPr/>
          </a:p>
        </p:txBody>
      </p:sp>
      <p:sp>
        <p:nvSpPr>
          <p:cNvPr id="228" name="Google Shape;228;p22"/>
          <p:cNvSpPr txBox="1"/>
          <p:nvPr/>
        </p:nvSpPr>
        <p:spPr>
          <a:xfrm>
            <a:off x="6637175" y="3326419"/>
            <a:ext cx="4953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8080"/>
                </a:solidFill>
                <a:latin typeface="DM Sans"/>
                <a:ea typeface="DM Sans"/>
                <a:cs typeface="DM Sans"/>
                <a:sym typeface="DM Sans"/>
              </a:rPr>
              <a:t>Our Method: 100% Accuracy</a:t>
            </a:r>
            <a:endParaRPr/>
          </a:p>
        </p:txBody>
      </p:sp>
      <p:pic>
        <p:nvPicPr>
          <p:cNvPr descr="image.png" id="229" name="Google Shape;22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10075" y="3431197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2"/>
          <p:cNvSpPr txBox="1"/>
          <p:nvPr/>
        </p:nvSpPr>
        <p:spPr>
          <a:xfrm>
            <a:off x="482625" y="549357"/>
            <a:ext cx="116016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008080"/>
                </a:solidFill>
                <a:latin typeface="Merriweather"/>
                <a:ea typeface="Merriweather"/>
                <a:cs typeface="Merriweather"/>
                <a:sym typeface="Merriweather"/>
              </a:rPr>
              <a:t>Results: Extraction Accuracy</a:t>
            </a:r>
            <a:endParaRPr/>
          </a:p>
        </p:txBody>
      </p:sp>
      <p:sp>
        <p:nvSpPr>
          <p:cNvPr id="231" name="Google Shape;231;p22"/>
          <p:cNvSpPr/>
          <p:nvPr/>
        </p:nvSpPr>
        <p:spPr>
          <a:xfrm>
            <a:off x="482625" y="1149656"/>
            <a:ext cx="11049000" cy="28500"/>
          </a:xfrm>
          <a:prstGeom prst="rect">
            <a:avLst/>
          </a:prstGeom>
          <a:solidFill>
            <a:srgbClr val="B5CC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32" name="Google Shape;23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99806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67436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37404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3800" y="2299803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3800" y="2867433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3800" y="3374044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8" name="Google Shape;23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42375" y="3431194"/>
            <a:ext cx="209550" cy="20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3" name="Google Shape;24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34300" y="1498699"/>
            <a:ext cx="3886200" cy="49845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4" name="Google Shape;24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98699"/>
            <a:ext cx="329565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52900" y="1498699"/>
            <a:ext cx="32956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3"/>
          <p:cNvSpPr txBox="1"/>
          <p:nvPr/>
        </p:nvSpPr>
        <p:spPr>
          <a:xfrm>
            <a:off x="571500" y="4975324"/>
            <a:ext cx="32956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8080"/>
                </a:solidFill>
                <a:latin typeface="DM Sans"/>
                <a:ea typeface="DM Sans"/>
                <a:cs typeface="DM Sans"/>
                <a:sym typeface="DM Sans"/>
              </a:rPr>
              <a:t>Cover Image (Input)</a:t>
            </a:r>
            <a:endParaRPr/>
          </a:p>
        </p:txBody>
      </p:sp>
      <p:sp>
        <p:nvSpPr>
          <p:cNvPr id="247" name="Google Shape;247;p23"/>
          <p:cNvSpPr txBox="1"/>
          <p:nvPr/>
        </p:nvSpPr>
        <p:spPr>
          <a:xfrm>
            <a:off x="4152900" y="4975324"/>
            <a:ext cx="32956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8080"/>
                </a:solidFill>
                <a:latin typeface="DM Sans"/>
                <a:ea typeface="DM Sans"/>
                <a:cs typeface="DM Sans"/>
                <a:sym typeface="DM Sans"/>
              </a:rPr>
              <a:t>Stego Image (Output) (2304 bits)</a:t>
            </a:r>
            <a:endParaRPr/>
          </a:p>
        </p:txBody>
      </p:sp>
      <p:sp>
        <p:nvSpPr>
          <p:cNvPr id="248" name="Google Shape;248;p23"/>
          <p:cNvSpPr txBox="1"/>
          <p:nvPr/>
        </p:nvSpPr>
        <p:spPr>
          <a:xfrm>
            <a:off x="8042195" y="2641699"/>
            <a:ext cx="3270408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8080"/>
                </a:solidFill>
                <a:latin typeface="Merriweather"/>
                <a:ea typeface="Merriweather"/>
                <a:cs typeface="Merriweather"/>
                <a:sym typeface="Merriweather"/>
              </a:rPr>
              <a:t>Forensically Undetectable</a:t>
            </a:r>
            <a:endParaRPr/>
          </a:p>
        </p:txBody>
      </p:sp>
      <p:sp>
        <p:nvSpPr>
          <p:cNvPr id="249" name="Google Shape;249;p23"/>
          <p:cNvSpPr txBox="1"/>
          <p:nvPr/>
        </p:nvSpPr>
        <p:spPr>
          <a:xfrm>
            <a:off x="8029575" y="3098899"/>
            <a:ext cx="329565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State-of-the-art steganalysis tools (YeNet, XuNet) showed a detection rate of ~0.5.</a:t>
            </a:r>
            <a:endParaRPr/>
          </a:p>
        </p:txBody>
      </p:sp>
      <p:sp>
        <p:nvSpPr>
          <p:cNvPr id="250" name="Google Shape;250;p23"/>
          <p:cNvSpPr txBox="1"/>
          <p:nvPr/>
        </p:nvSpPr>
        <p:spPr>
          <a:xfrm>
            <a:off x="8029575" y="4247257"/>
            <a:ext cx="3295650" cy="79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8080"/>
                </a:solidFill>
                <a:latin typeface="DM Sans"/>
                <a:ea typeface="DM Sans"/>
                <a:cs typeface="DM Sans"/>
                <a:sym typeface="DM Sans"/>
              </a:rPr>
              <a:t>This is equivalent to a random guess.</a:t>
            </a:r>
            <a:endParaRPr/>
          </a:p>
        </p:txBody>
      </p:sp>
      <p:sp>
        <p:nvSpPr>
          <p:cNvPr id="251" name="Google Shape;251;p23"/>
          <p:cNvSpPr txBox="1"/>
          <p:nvPr/>
        </p:nvSpPr>
        <p:spPr>
          <a:xfrm>
            <a:off x="8029575" y="5182492"/>
            <a:ext cx="329565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The generated stego image is visually identical AND highly resilient to automated detection.</a:t>
            </a:r>
            <a:endParaRPr/>
          </a:p>
        </p:txBody>
      </p:sp>
      <p:pic>
        <p:nvPicPr>
          <p:cNvPr descr="image.png" id="252" name="Google Shape;252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0550" y="1517749"/>
            <a:ext cx="3257550" cy="3295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3" name="Google Shape;253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171950" y="1517749"/>
            <a:ext cx="3257550" cy="3295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4" name="Google Shape;254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391650" y="1813024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3"/>
          <p:cNvSpPr txBox="1"/>
          <p:nvPr/>
        </p:nvSpPr>
        <p:spPr>
          <a:xfrm>
            <a:off x="571500" y="374749"/>
            <a:ext cx="116014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008080"/>
                </a:solidFill>
                <a:latin typeface="Merriweather"/>
                <a:ea typeface="Merriweather"/>
                <a:cs typeface="Merriweather"/>
                <a:sym typeface="Merriweather"/>
              </a:rPr>
              <a:t>Results: Image Quality &amp; Security</a:t>
            </a:r>
            <a:endParaRPr/>
          </a:p>
        </p:txBody>
      </p:sp>
      <p:sp>
        <p:nvSpPr>
          <p:cNvPr id="256" name="Google Shape;256;p23"/>
          <p:cNvSpPr/>
          <p:nvPr/>
        </p:nvSpPr>
        <p:spPr>
          <a:xfrm>
            <a:off x="571500" y="1089124"/>
            <a:ext cx="11049000" cy="28575"/>
          </a:xfrm>
          <a:prstGeom prst="rect">
            <a:avLst/>
          </a:prstGeom>
          <a:solidFill>
            <a:srgbClr val="B5CC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7" name="Google Shape;257;p2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069175" y="1448813"/>
            <a:ext cx="3412326" cy="34167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14450" y="1448825"/>
            <a:ext cx="3556365" cy="3416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3" name="Google Shape;26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7650" y="699125"/>
            <a:ext cx="4871225" cy="58630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4" name="Google Shape;264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89540" y="828012"/>
            <a:ext cx="5530961" cy="574895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4"/>
          <p:cNvSpPr txBox="1"/>
          <p:nvPr/>
        </p:nvSpPr>
        <p:spPr>
          <a:xfrm>
            <a:off x="981075" y="1222771"/>
            <a:ext cx="4690586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8080"/>
                </a:solidFill>
                <a:latin typeface="Merriweather"/>
                <a:ea typeface="Merriweather"/>
                <a:cs typeface="Merriweather"/>
                <a:sym typeface="Merriweather"/>
              </a:rPr>
              <a:t>Key Findings</a:t>
            </a:r>
            <a:endParaRPr/>
          </a:p>
        </p:txBody>
      </p:sp>
      <p:sp>
        <p:nvSpPr>
          <p:cNvPr id="266" name="Google Shape;266;p24"/>
          <p:cNvSpPr/>
          <p:nvPr/>
        </p:nvSpPr>
        <p:spPr>
          <a:xfrm>
            <a:off x="981075" y="1699021"/>
            <a:ext cx="4467225" cy="38100"/>
          </a:xfrm>
          <a:prstGeom prst="rect">
            <a:avLst/>
          </a:prstGeom>
          <a:solidFill>
            <a:srgbClr val="B5CC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4"/>
          <p:cNvSpPr txBox="1"/>
          <p:nvPr/>
        </p:nvSpPr>
        <p:spPr>
          <a:xfrm>
            <a:off x="6743700" y="1222771"/>
            <a:ext cx="4690586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8080"/>
                </a:solidFill>
                <a:latin typeface="Merriweather"/>
                <a:ea typeface="Merriweather"/>
                <a:cs typeface="Merriweather"/>
                <a:sym typeface="Merriweather"/>
              </a:rPr>
              <a:t>Future Enhancements</a:t>
            </a:r>
            <a:endParaRPr/>
          </a:p>
        </p:txBody>
      </p:sp>
      <p:sp>
        <p:nvSpPr>
          <p:cNvPr id="268" name="Google Shape;268;p24"/>
          <p:cNvSpPr/>
          <p:nvPr/>
        </p:nvSpPr>
        <p:spPr>
          <a:xfrm>
            <a:off x="6743700" y="1699021"/>
            <a:ext cx="4467225" cy="38100"/>
          </a:xfrm>
          <a:prstGeom prst="rect">
            <a:avLst/>
          </a:prstGeom>
          <a:solidFill>
            <a:srgbClr val="B5CC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4"/>
          <p:cNvSpPr txBox="1"/>
          <p:nvPr/>
        </p:nvSpPr>
        <p:spPr>
          <a:xfrm>
            <a:off x="1266825" y="1975246"/>
            <a:ext cx="4181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The **Carrier Secret Tensor** method is highly effective for SWE.</a:t>
            </a:r>
            <a:endParaRPr/>
          </a:p>
        </p:txBody>
      </p:sp>
      <p:sp>
        <p:nvSpPr>
          <p:cNvPr id="270" name="Google Shape;270;p24"/>
          <p:cNvSpPr txBox="1"/>
          <p:nvPr/>
        </p:nvSpPr>
        <p:spPr>
          <a:xfrm>
            <a:off x="1266825" y="2836068"/>
            <a:ext cx="4181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The model achieves **100% extraction accuracy** at high capacities (2304 &amp; 3072 bits).</a:t>
            </a:r>
            <a:endParaRPr/>
          </a:p>
        </p:txBody>
      </p:sp>
      <p:sp>
        <p:nvSpPr>
          <p:cNvPr id="271" name="Google Shape;271;p24"/>
          <p:cNvSpPr txBox="1"/>
          <p:nvPr/>
        </p:nvSpPr>
        <p:spPr>
          <a:xfrm>
            <a:off x="1266825" y="4032051"/>
            <a:ext cx="4181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The system is secure and **resistant to steganalysis tools**, with detection rates at chance (0.5).</a:t>
            </a:r>
            <a:endParaRPr/>
          </a:p>
        </p:txBody>
      </p:sp>
      <p:sp>
        <p:nvSpPr>
          <p:cNvPr id="272" name="Google Shape;272;p24"/>
          <p:cNvSpPr txBox="1"/>
          <p:nvPr/>
        </p:nvSpPr>
        <p:spPr>
          <a:xfrm>
            <a:off x="1266825" y="5228034"/>
            <a:ext cx="4181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**Wasserstein distance** and **weight clipping** are crucial for balancing the conflicting goals of image quality and data accuracy.</a:t>
            </a:r>
            <a:endParaRPr/>
          </a:p>
        </p:txBody>
      </p:sp>
      <p:sp>
        <p:nvSpPr>
          <p:cNvPr id="273" name="Google Shape;273;p24"/>
          <p:cNvSpPr txBox="1"/>
          <p:nvPr/>
        </p:nvSpPr>
        <p:spPr>
          <a:xfrm>
            <a:off x="7029450" y="1975246"/>
            <a:ext cx="4181475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The primary limitation identified is the visual quality (FID score) of the generated images, which still has room for improvement.</a:t>
            </a:r>
            <a:endParaRPr/>
          </a:p>
        </p:txBody>
      </p:sp>
      <p:sp>
        <p:nvSpPr>
          <p:cNvPr id="274" name="Google Shape;274;p24"/>
          <p:cNvSpPr txBox="1"/>
          <p:nvPr/>
        </p:nvSpPr>
        <p:spPr>
          <a:xfrm>
            <a:off x="7029450" y="3506390"/>
            <a:ext cx="418147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Future work will focus on further **improving the image fidelity** (making the images look even more realistic).</a:t>
            </a:r>
            <a:endParaRPr/>
          </a:p>
        </p:txBody>
      </p:sp>
      <p:sp>
        <p:nvSpPr>
          <p:cNvPr id="275" name="Google Shape;275;p24"/>
          <p:cNvSpPr txBox="1"/>
          <p:nvPr/>
        </p:nvSpPr>
        <p:spPr>
          <a:xfrm>
            <a:off x="7029450" y="4702373"/>
            <a:ext cx="418147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The goal is to maintain 100% accuracy and security while achieving an even higher-quality visual output.</a:t>
            </a:r>
            <a:endParaRPr/>
          </a:p>
        </p:txBody>
      </p:sp>
      <p:sp>
        <p:nvSpPr>
          <p:cNvPr id="276" name="Google Shape;276;p24"/>
          <p:cNvSpPr txBox="1"/>
          <p:nvPr/>
        </p:nvSpPr>
        <p:spPr>
          <a:xfrm>
            <a:off x="571500" y="98822"/>
            <a:ext cx="116016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008080"/>
                </a:solidFill>
                <a:latin typeface="Merriweather"/>
                <a:ea typeface="Merriweather"/>
                <a:cs typeface="Merriweather"/>
                <a:sym typeface="Merriweather"/>
              </a:rPr>
              <a:t>Key Findings &amp; Future Enhancements</a:t>
            </a:r>
            <a:endParaRPr/>
          </a:p>
        </p:txBody>
      </p:sp>
      <p:sp>
        <p:nvSpPr>
          <p:cNvPr id="277" name="Google Shape;277;p24"/>
          <p:cNvSpPr/>
          <p:nvPr/>
        </p:nvSpPr>
        <p:spPr>
          <a:xfrm>
            <a:off x="571500" y="813196"/>
            <a:ext cx="11049000" cy="28500"/>
          </a:xfrm>
          <a:prstGeom prst="rect">
            <a:avLst/>
          </a:prstGeom>
          <a:solidFill>
            <a:srgbClr val="B5CC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78" name="Google Shape;278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81075" y="2022871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9" name="Google Shape;279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81075" y="2883693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0" name="Google Shape;280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81075" y="4079676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1" name="Google Shape;281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81075" y="5275659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2" name="Google Shape;282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43700" y="2022871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3" name="Google Shape;283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43700" y="3554015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4" name="Google Shape;284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43700" y="4749998"/>
            <a:ext cx="14287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